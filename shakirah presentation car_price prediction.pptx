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3840480" cy="3840480"/>
          </a:xfrm>
          <a:prstGeom prst="ellipse">
            <a:avLst/>
          </a:prstGeom>
          <a:solidFill>
            <a:srgbClr val="0D9488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680960" y="-457200"/>
            <a:ext cx="2286000" cy="2286000"/>
          </a:xfrm>
          <a:prstGeom prst="ellipse">
            <a:avLst/>
          </a:prstGeom>
          <a:solidFill>
            <a:srgbClr val="14B8A6">
              <a:alpha val="2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321040" y="365760"/>
            <a:ext cx="1280160" cy="1280160"/>
          </a:xfrm>
          <a:prstGeom prst="ellipse">
            <a:avLst/>
          </a:prstGeom>
          <a:solidFill>
            <a:srgbClr val="0D9488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411480" y="475488"/>
            <a:ext cx="7772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Science Pipeline  ·  From Data Cleaning to Explainable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96312"/>
            <a:ext cx="475488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Shape 8"/>
          <p:cNvSpPr/>
          <p:nvPr/>
        </p:nvSpPr>
        <p:spPr>
          <a:xfrm>
            <a:off x="365760" y="2761488"/>
            <a:ext cx="2029968" cy="1389888"/>
          </a:xfrm>
          <a:prstGeom prst="rect">
            <a:avLst/>
          </a:prstGeom>
          <a:solidFill>
            <a:srgbClr val="0D9488">
              <a:alpha val="20000"/>
            </a:srgbClr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807208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Analyzed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2761488"/>
            <a:ext cx="2029968" cy="1389888"/>
          </a:xfrm>
          <a:prstGeom prst="rect">
            <a:avLst/>
          </a:prstGeom>
          <a:solidFill>
            <a:srgbClr val="0D9488">
              <a:alpha val="20000"/>
            </a:srgbClr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78608" y="2807208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26→39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78608" y="3566160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91456" y="2761488"/>
            <a:ext cx="2029968" cy="1389888"/>
          </a:xfrm>
          <a:prstGeom prst="rect">
            <a:avLst/>
          </a:prstGeom>
          <a:solidFill>
            <a:srgbClr val="0D9488">
              <a:alpha val="20000"/>
            </a:srgbClr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91456" y="2807208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91456" y="3566160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04304" y="2761488"/>
            <a:ext cx="2029968" cy="1389888"/>
          </a:xfrm>
          <a:prstGeom prst="rect">
            <a:avLst/>
          </a:prstGeom>
          <a:solidFill>
            <a:srgbClr val="0D9488">
              <a:alpha val="20000"/>
            </a:srgbClr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04304" y="2807208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04304" y="3566160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727448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Data Gathering  →  Cleaning  →  EDA  →  Feature Engineering  →  Preprocessing  →  Model Training  →  SHAP / LIME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32320" y="47274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Linear Regression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584448" y="73152"/>
            <a:ext cx="1316736" cy="402336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5" name="Text 3"/>
          <p:cNvSpPr/>
          <p:nvPr/>
        </p:nvSpPr>
        <p:spPr>
          <a:xfrm>
            <a:off x="3584448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0.3835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74336" y="73152"/>
            <a:ext cx="1316736" cy="4023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7" name="Text 5"/>
          <p:cNvSpPr/>
          <p:nvPr/>
        </p:nvSpPr>
        <p:spPr>
          <a:xfrm>
            <a:off x="4974336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$6,976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9" name="Text 7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$4,974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Text 9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⚠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640080"/>
            <a:ext cx="5394960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742432" y="640080"/>
            <a:ext cx="3218688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4" name="Text 11"/>
          <p:cNvSpPr/>
          <p:nvPr/>
        </p:nvSpPr>
        <p:spPr>
          <a:xfrm>
            <a:off x="5833872" y="640080"/>
            <a:ext cx="3081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Coefficient Interpretation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42432" y="960120"/>
            <a:ext cx="3218688" cy="78638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42432" y="960120"/>
            <a:ext cx="64008" cy="786384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7" name="Text 14"/>
          <p:cNvSpPr/>
          <p:nvPr/>
        </p:nvSpPr>
        <p:spPr>
          <a:xfrm>
            <a:off x="5870448" y="1024128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bars = Positive Coefficients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70448" y="1289304"/>
            <a:ext cx="30358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INCREASE price when they rise: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engine_efficiency (+8,640)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enginelocation_encoded (+5,622)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fueltype_encoded (+2,153)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wheelbase (+717) · boreratio (+435)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742432" y="1908810"/>
            <a:ext cx="3218688" cy="78638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42432" y="1828800"/>
            <a:ext cx="64008" cy="78638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1" name="Text 18"/>
          <p:cNvSpPr/>
          <p:nvPr/>
        </p:nvSpPr>
        <p:spPr>
          <a:xfrm>
            <a:off x="5870448" y="1892808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 = Negative Coefficients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870448" y="2157984"/>
            <a:ext cx="30358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DECREASE price: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wheelbase_ratio (−136,026) — dominates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bore_stroke_ratio (−1,071) · carlength (−750)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stroke (−406) · is_high_performance (−289)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742432" y="2697480"/>
            <a:ext cx="64008" cy="786384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5" name="Text 22"/>
          <p:cNvSpPr/>
          <p:nvPr/>
        </p:nvSpPr>
        <p:spPr>
          <a:xfrm>
            <a:off x="5870575" y="2761615"/>
            <a:ext cx="30359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870448" y="3026664"/>
            <a:ext cx="30358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742432" y="3566160"/>
            <a:ext cx="3218688" cy="78638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42432" y="3566160"/>
            <a:ext cx="64008" cy="78638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9" name="Text 26"/>
          <p:cNvSpPr/>
          <p:nvPr/>
        </p:nvSpPr>
        <p:spPr>
          <a:xfrm>
            <a:off x="5870448" y="3630168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Severe Overfitting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870448" y="3895344"/>
            <a:ext cx="30358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= 1.00 vs Test R² = 0.38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memorises training data but fails on unseen cars. Non-linear algorithms needed.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82880" y="4370832"/>
            <a:ext cx="53949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6032" y="4370832"/>
            <a:ext cx="5257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Only 38% accuracy — model too simplistic for non-linear car pricing. Baseline for comparison only.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82880" y="4773168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"LR establishes our baseline — 38% accuracy motivates tree-based &amp; ensemble exploration."</a:t>
            </a:r>
            <a:endParaRPr lang="en-US" sz="950" dirty="0"/>
          </a:p>
        </p:txBody>
      </p:sp>
      <p:sp>
        <p:nvSpPr>
          <p:cNvPr id="34" name="Text Box 33"/>
          <p:cNvSpPr txBox="1"/>
          <p:nvPr/>
        </p:nvSpPr>
        <p:spPr>
          <a:xfrm>
            <a:off x="5870575" y="3128010"/>
            <a:ext cx="3204210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Decision Tree Regressor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584448" y="73152"/>
            <a:ext cx="1316736" cy="40233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5" name="Text 3"/>
          <p:cNvSpPr/>
          <p:nvPr/>
        </p:nvSpPr>
        <p:spPr>
          <a:xfrm>
            <a:off x="3584448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74336" y="73152"/>
            <a:ext cx="1316736" cy="40233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7" name="Text 5"/>
          <p:cNvSpPr/>
          <p:nvPr/>
        </p:nvSpPr>
        <p:spPr>
          <a:xfrm>
            <a:off x="4974336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$1,676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1" name="Text 9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lvls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592" y="621792"/>
            <a:ext cx="6400800" cy="3794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675120" y="621792"/>
            <a:ext cx="2304288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4" name="Text 11"/>
          <p:cNvSpPr/>
          <p:nvPr/>
        </p:nvSpPr>
        <p:spPr>
          <a:xfrm>
            <a:off x="6766560" y="621792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Top Node Interpretation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75120" y="950976"/>
            <a:ext cx="2304288" cy="8046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950976"/>
            <a:ext cx="64008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4"/>
          <p:cNvSpPr/>
          <p:nvPr/>
        </p:nvSpPr>
        <p:spPr>
          <a:xfrm>
            <a:off x="6793992" y="1005840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enginesize ≤ 182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93992" y="1271016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100% of cars.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 (≤182): Economy ~$11.5k (92.7%)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 (&gt;182): Premium ~$35k (7.3%)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Enginesize = #1 price driver.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0" y="1828800"/>
            <a:ext cx="2304288" cy="8046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75120" y="1828800"/>
            <a:ext cx="64008" cy="804672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1" name="Text 18"/>
          <p:cNvSpPr/>
          <p:nvPr/>
        </p:nvSpPr>
        <p:spPr>
          <a:xfrm>
            <a:off x="6793992" y="1883664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LEFT: curbweight ≤ 2,698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93992" y="2148840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splits economy segment.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 cars: avg $8,857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Heavier economy: avg $10,900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refines budget vs mid-range.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75120" y="2706624"/>
            <a:ext cx="2304288" cy="8046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75120" y="2706624"/>
            <a:ext cx="64008" cy="8046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2"/>
          <p:cNvSpPr/>
          <p:nvPr/>
        </p:nvSpPr>
        <p:spPr>
          <a:xfrm>
            <a:off x="6793992" y="276148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RIGHT: compressionratio ≤ 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93992" y="3026664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premium segment.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compression: avg $41,140 (1.2%)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compression: avg $33,962 (6.1%)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 flags high-perf engines.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75120" y="3584448"/>
            <a:ext cx="2304288" cy="8046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675120" y="3584448"/>
            <a:ext cx="64008" cy="8046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9" name="Text 26"/>
          <p:cNvSpPr/>
          <p:nvPr/>
        </p:nvSpPr>
        <p:spPr>
          <a:xfrm>
            <a:off x="6793992" y="3639312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is_luxury ≤ 0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793992" y="3904488"/>
            <a:ext cx="212140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of data — mid-range vs luxury.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Non-luxury: avg $13,992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Luxury: avg $18,949+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 pays off here.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4592" y="4471416"/>
            <a:ext cx="6400800" cy="4572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6032" y="44714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R² jumps 38% → 91.4%  |  7 depth levels, 25 leaf nodes  |  Training: 0.02s  |  3 pricing tiers captured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64592" y="4974336"/>
            <a:ext cx="8796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"Decision Trees capture non-linear relationships — first split on engine size achieves 91% accuracy."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60716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Feature Engineering: The Game Changer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−18.1%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Reduction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total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21792"/>
            <a:ext cx="3474720" cy="44074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621792"/>
            <a:ext cx="3474720" cy="32918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256032" y="621792"/>
            <a:ext cx="33101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16 New Features Created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00584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(13):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335024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420624" y="1261872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power_to_weight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47088" y="1261872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÷ Curb Weight (performance ratio)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" y="1591056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420624" y="1517904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engine_efficiency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47088" y="1517904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per litre of displacement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847088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420624" y="1773936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avg_mpg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47088" y="1773936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fuel economy (city+highway)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103120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2" name="Text 20"/>
          <p:cNvSpPr/>
          <p:nvPr/>
        </p:nvSpPr>
        <p:spPr>
          <a:xfrm>
            <a:off x="420624" y="2029968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car_volume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47088" y="2029968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× Width × Height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2359152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5" name="Text 23"/>
          <p:cNvSpPr/>
          <p:nvPr/>
        </p:nvSpPr>
        <p:spPr>
          <a:xfrm>
            <a:off x="420624" y="2286000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wheelbase_ratio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47088" y="2286000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indicator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2615184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8" name="Text 26"/>
          <p:cNvSpPr/>
          <p:nvPr/>
        </p:nvSpPr>
        <p:spPr>
          <a:xfrm>
            <a:off x="420624" y="2542032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bore_stroke_ratio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47088" y="2542032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design characteristic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2871216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1" name="Text 29"/>
          <p:cNvSpPr/>
          <p:nvPr/>
        </p:nvSpPr>
        <p:spPr>
          <a:xfrm>
            <a:off x="420624" y="2798064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price_per_hp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47088" y="2798064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metric for buyers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3127248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4" name="Text 32"/>
          <p:cNvSpPr/>
          <p:nvPr/>
        </p:nvSpPr>
        <p:spPr>
          <a:xfrm>
            <a:off x="420624" y="3054096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is_luxury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47088" y="3054096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price &gt; 75th percentile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3383280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7" name="Text 35"/>
          <p:cNvSpPr/>
          <p:nvPr/>
        </p:nvSpPr>
        <p:spPr>
          <a:xfrm>
            <a:off x="420624" y="3310128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is_high_performance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47088" y="3310128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HP &gt; 75th percentile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3639312"/>
            <a:ext cx="118872" cy="1188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0" name="Text 38"/>
          <p:cNvSpPr/>
          <p:nvPr/>
        </p:nvSpPr>
        <p:spPr>
          <a:xfrm>
            <a:off x="420624" y="3566160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car_age_proxy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47088" y="3566160"/>
            <a:ext cx="16642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symboling rating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3858768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 (3):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4178808"/>
            <a:ext cx="118872" cy="11887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4" name="Text 42"/>
          <p:cNvSpPr/>
          <p:nvPr/>
        </p:nvSpPr>
        <p:spPr>
          <a:xfrm>
            <a:off x="420624" y="4114800"/>
            <a:ext cx="31272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engine_power_interaction = enginesize × horsepower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4434840"/>
            <a:ext cx="118872" cy="11887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6" name="Text 44"/>
          <p:cNvSpPr/>
          <p:nvPr/>
        </p:nvSpPr>
        <p:spPr>
          <a:xfrm>
            <a:off x="420624" y="4370832"/>
            <a:ext cx="31272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size_weight_interaction = curbweight × carlength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4690872"/>
            <a:ext cx="118872" cy="11887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8" name="Text 46"/>
          <p:cNvSpPr/>
          <p:nvPr/>
        </p:nvSpPr>
        <p:spPr>
          <a:xfrm>
            <a:off x="420624" y="4626864"/>
            <a:ext cx="31272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efficiency_size_interaction = citympg × enginesize</a:t>
            </a:r>
            <a:endParaRPr lang="en-US" sz="85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22192" y="621792"/>
            <a:ext cx="5157216" cy="2834640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/>
        </p:nvGraphicFramePr>
        <p:xfrm>
          <a:off x="3822192" y="3547872"/>
          <a:ext cx="5157216" cy="1417320"/>
        </p:xfrm>
        <a:graphic>
          <a:graphicData uri="http://schemas.openxmlformats.org/drawingml/2006/table">
            <a:tbl>
              <a:tblPr/>
              <a:tblGrid>
                <a:gridCol w="1463040"/>
                <a:gridCol w="1261872"/>
                <a:gridCol w="1261872"/>
                <a:gridCol w="1170432"/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FE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~$2,100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$1,851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−11.9% ↓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0.9566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 ↑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~$1,400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−13.9% ↓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164592" y="4773168"/>
            <a:ext cx="8796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engineering reduces prediction error by $250+ per car — intelligent features capture domain expertise."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46817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PyCaret AutoML: Finding the Champion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74336" y="73152"/>
            <a:ext cx="1316736" cy="40233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4974336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7" name="Text 5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$1,668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9" name="Text 7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0.9647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592" y="621792"/>
            <a:ext cx="5961888" cy="42245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621792"/>
            <a:ext cx="2633472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2" name="Text 9"/>
          <p:cNvSpPr/>
          <p:nvPr/>
        </p:nvSpPr>
        <p:spPr>
          <a:xfrm>
            <a:off x="6446520" y="621792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Model Comparison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969264"/>
            <a:ext cx="2633472" cy="79552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969264"/>
            <a:ext cx="64008" cy="7955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2"/>
          <p:cNvSpPr/>
          <p:nvPr/>
        </p:nvSpPr>
        <p:spPr>
          <a:xfrm>
            <a:off x="6473952" y="103327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Extra Trees (AutoML)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73952" y="1316736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$1,668   R²: 0.9647   MAE: $968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1847088"/>
            <a:ext cx="2633472" cy="79552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1847088"/>
            <a:ext cx="64008" cy="79552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9" name="Text 16"/>
          <p:cNvSpPr/>
          <p:nvPr/>
        </p:nvSpPr>
        <p:spPr>
          <a:xfrm>
            <a:off x="6473952" y="191109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Random Forest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73952" y="219456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$1,851   R²: 0.9566   MAE: $1,205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55080" y="2724912"/>
            <a:ext cx="2633472" cy="79552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55080" y="2724912"/>
            <a:ext cx="64008" cy="795528"/>
          </a:xfrm>
          <a:prstGeom prst="rect">
            <a:avLst/>
          </a:prstGeom>
          <a:solidFill>
            <a:srgbClr val="CD7F32"/>
          </a:solidFill>
        </p:spPr>
      </p:sp>
      <p:sp>
        <p:nvSpPr>
          <p:cNvPr id="23" name="Text 20"/>
          <p:cNvSpPr/>
          <p:nvPr/>
        </p:nvSpPr>
        <p:spPr>
          <a:xfrm>
            <a:off x="6473952" y="27889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Decision Tree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73952" y="307238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$2,606   R²: 0.9140   MAE: $1,676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355080" y="3602736"/>
            <a:ext cx="2633472" cy="79552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55080" y="3602736"/>
            <a:ext cx="64008" cy="79552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7" name="Text 24"/>
          <p:cNvSpPr/>
          <p:nvPr/>
        </p:nvSpPr>
        <p:spPr>
          <a:xfrm>
            <a:off x="6473952" y="366674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Linear Regression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73952" y="395020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$6,976   R²: 0.3835   MAE: $4,975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55080" y="4480560"/>
            <a:ext cx="2633472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4517136"/>
            <a:ext cx="2487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Extra Trees Won: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46520" y="4700016"/>
            <a:ext cx="2487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randomisation → less overfitting. 100 trees, depth 15. +10% over Random Forest on test set.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64592" y="4901184"/>
            <a:ext cx="8796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"AutoML tested 18 algorithms in &lt;5 min — Extra Trees: 96.47% accuracy, $968 avg error. Production-ready."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60716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 SHAP Analysis — Global Feature Importance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592" y="621792"/>
            <a:ext cx="4114800" cy="42519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34840" y="621792"/>
            <a:ext cx="4370832" cy="4251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4592" y="621792"/>
            <a:ext cx="4114800" cy="274320"/>
          </a:xfrm>
          <a:prstGeom prst="rect">
            <a:avLst/>
          </a:prstGeom>
          <a:solidFill>
            <a:srgbClr val="0D1B2A">
              <a:alpha val="85000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201168" y="621792"/>
            <a:ext cx="4041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Mean |SHAP| — Average Global Impact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34840" y="621792"/>
            <a:ext cx="4370832" cy="274320"/>
          </a:xfrm>
          <a:prstGeom prst="rect">
            <a:avLst/>
          </a:prstGeom>
          <a:solidFill>
            <a:srgbClr val="0D1B2A">
              <a:alpha val="8500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4471416" y="62179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Beeswarm: Each dot = one car  |  🔴 Red = high value  |  🔵 Blue = low value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64592" y="4754880"/>
            <a:ext cx="8796528" cy="3657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5" name="Text 11"/>
          <p:cNvSpPr/>
          <p:nvPr/>
        </p:nvSpPr>
        <p:spPr>
          <a:xfrm>
            <a:off x="228600" y="4754880"/>
            <a:ext cx="8668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GLOBAL DRIVERS: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engine_power_interaction (most impact)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is_luxury (+$8K–$15K)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curbweight (+$3K–$5K)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enginesize  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60716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 SHAP Analysis — Local Explanations (Individual Cars)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Local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592" y="621792"/>
            <a:ext cx="4407408" cy="27432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36592" y="621792"/>
            <a:ext cx="4242816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4592" y="3438144"/>
            <a:ext cx="4407408" cy="2743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7"/>
          <p:cNvSpPr/>
          <p:nvPr/>
        </p:nvSpPr>
        <p:spPr>
          <a:xfrm>
            <a:off x="219456" y="343814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 — Mid-Range Car  |  Actual: $30,760  |  Predicted: $30,527  |  Error: $233 (0.76%)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64592" y="376732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3" name="Text 9"/>
          <p:cNvSpPr/>
          <p:nvPr/>
        </p:nvSpPr>
        <p:spPr>
          <a:xfrm>
            <a:off x="310896" y="3767328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engine_power_interaction = 6,120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456432" y="376732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+$2,007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164592" y="395020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6" name="Text 12"/>
          <p:cNvSpPr/>
          <p:nvPr/>
        </p:nvSpPr>
        <p:spPr>
          <a:xfrm>
            <a:off x="310896" y="3950208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curbweight = 1,989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456432" y="395020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+$1,194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164592" y="413308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9" name="Text 15"/>
          <p:cNvSpPr/>
          <p:nvPr/>
        </p:nvSpPr>
        <p:spPr>
          <a:xfrm>
            <a:off x="310896" y="4133088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enginesize = 90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456432" y="413308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+$1,129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164592" y="431596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2" name="Text 18"/>
          <p:cNvSpPr/>
          <p:nvPr/>
        </p:nvSpPr>
        <p:spPr>
          <a:xfrm>
            <a:off x="310896" y="4315968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 = 68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456432" y="431596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+$730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64592" y="4498848"/>
            <a:ext cx="91440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1"/>
          <p:cNvSpPr/>
          <p:nvPr/>
        </p:nvSpPr>
        <p:spPr>
          <a:xfrm>
            <a:off x="310896" y="4498848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highwaympg = 38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456432" y="449884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−$328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64592" y="4681728"/>
            <a:ext cx="91440" cy="164592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8" name="Text 24"/>
          <p:cNvSpPr/>
          <p:nvPr/>
        </p:nvSpPr>
        <p:spPr>
          <a:xfrm>
            <a:off x="310896" y="4681728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value (avg all cars)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456432" y="468172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$13,649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736592" y="3438144"/>
            <a:ext cx="4242816" cy="2743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1" name="Text 27"/>
          <p:cNvSpPr/>
          <p:nvPr/>
        </p:nvSpPr>
        <p:spPr>
          <a:xfrm>
            <a:off x="4791456" y="3438144"/>
            <a:ext cx="4133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High-Price Car  |  Actual: $41,315  |  Predicted: $30,690  |  Luxury Premium Case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736592" y="376732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3" name="Text 29"/>
          <p:cNvSpPr/>
          <p:nvPr/>
        </p:nvSpPr>
        <p:spPr>
          <a:xfrm>
            <a:off x="4882896" y="376732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is_luxury = 1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8010144" y="376732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+$8,028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736592" y="395020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6" name="Text 32"/>
          <p:cNvSpPr/>
          <p:nvPr/>
        </p:nvSpPr>
        <p:spPr>
          <a:xfrm>
            <a:off x="4882896" y="395020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engine_power_interaction = 38,038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8010144" y="395020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+$1,987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36592" y="413308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9" name="Text 35"/>
          <p:cNvSpPr/>
          <p:nvPr/>
        </p:nvSpPr>
        <p:spPr>
          <a:xfrm>
            <a:off x="4882896" y="413308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enginesize = 209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8010144" y="413308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+$1,512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736592" y="4315968"/>
            <a:ext cx="91440" cy="1645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42" name="Text 38"/>
          <p:cNvSpPr/>
          <p:nvPr/>
        </p:nvSpPr>
        <p:spPr>
          <a:xfrm>
            <a:off x="4882896" y="431596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curbweight = 3,380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8010144" y="431596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+$1,462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736592" y="4498848"/>
            <a:ext cx="91440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5" name="Text 41"/>
          <p:cNvSpPr/>
          <p:nvPr/>
        </p:nvSpPr>
        <p:spPr>
          <a:xfrm>
            <a:off x="4882896" y="44988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avg_mpg = 19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10144" y="449884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−$390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736592" y="4681728"/>
            <a:ext cx="91440" cy="164592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48" name="Text 44"/>
          <p:cNvSpPr/>
          <p:nvPr/>
        </p:nvSpPr>
        <p:spPr>
          <a:xfrm>
            <a:off x="4882896" y="468172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value (avg all cars)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8010144" y="468172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$13,649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164592" y="4864608"/>
            <a:ext cx="8796528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37744" y="4864608"/>
            <a:ext cx="8668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How to read: Base value = avg price across all cars. Pink/red bars push price UP. Blue bars push price DOWN. Sum = final prediction.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60716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05c  LIME Analysis — Local Explanations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5" name="Text 3"/>
          <p:cNvSpPr/>
          <p:nvPr/>
        </p:nvSpPr>
        <p:spPr>
          <a:xfrm>
            <a:off x="6364224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Local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621792"/>
            <a:ext cx="8796528" cy="27432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9" name="Text 7"/>
          <p:cNvSpPr/>
          <p:nvPr/>
        </p:nvSpPr>
        <p:spPr>
          <a:xfrm>
            <a:off x="256032" y="62179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Sample 1: Luxury Car  |  Actual: $30,760  |  Predicted: $30,527  |  Error: $233 (0.76%!)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592" y="932688"/>
            <a:ext cx="8796528" cy="1481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2468880"/>
            <a:ext cx="8796528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" y="2468880"/>
            <a:ext cx="86502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is_luxury = 1 dominates with +$8,400 (luxury brand flag). is_high_performance and bore_stroke_ratio provide smaller boosts. symboling ≤ 0 slightly reduces price (lower risk rating). The model correctly prices this as a high-end car.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4592" y="3017520"/>
            <a:ext cx="8796528" cy="2743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4" name="Text 11"/>
          <p:cNvSpPr/>
          <p:nvPr/>
        </p:nvSpPr>
        <p:spPr>
          <a:xfrm>
            <a:off x="256032" y="3017520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Sample 3: Economy Car  |  Actual: $6,295  |  Budget Segment  |  LIME shows negative factors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4592" y="3328416"/>
            <a:ext cx="8796528" cy="14813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4592" y="4846320"/>
            <a:ext cx="8796528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37744" y="4846320"/>
            <a:ext cx="8650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is_luxury = 0 massively DECREASES predicted price (−$8,000+). Not being high-performance and low symboling further confirm economy positioning. bore_stroke_ratio &gt; 1.06 provides a small upward correction.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746150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05d  Explainability: SHAP vs LIME — Why It Matters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7754112" y="73152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 Box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21792"/>
            <a:ext cx="4206240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7" name="Text 5"/>
          <p:cNvSpPr/>
          <p:nvPr/>
        </p:nvSpPr>
        <p:spPr>
          <a:xfrm>
            <a:off x="256032" y="621792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SHAP vs LIME Comparison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64592" y="932688"/>
          <a:ext cx="4206240" cy="2971801"/>
        </p:xfrm>
        <a:graphic>
          <a:graphicData uri="http://schemas.openxmlformats.org/drawingml/2006/table">
            <a:tbl>
              <a:tblPr/>
              <a:tblGrid>
                <a:gridCol w="1417320"/>
                <a:gridCol w="1389888"/>
                <a:gridCol w="1399032"/>
              </a:tblGrid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+ Local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only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Shapley game theory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linear model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Mathematically exact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 (all predictions)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prediction explanation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&amp; global insights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Explaining to stakeholders/clients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 + beeswarm + waterfall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 per prediction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53712" y="621792"/>
            <a:ext cx="4407408" cy="2743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8" name="Text 7"/>
          <p:cNvSpPr/>
          <p:nvPr/>
        </p:nvSpPr>
        <p:spPr>
          <a:xfrm>
            <a:off x="4645152" y="621792"/>
            <a:ext cx="4270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Explainability Matters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53712" y="932688"/>
            <a:ext cx="4407408" cy="7589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932688"/>
            <a:ext cx="64008" cy="7589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0"/>
          <p:cNvSpPr/>
          <p:nvPr/>
        </p:nvSpPr>
        <p:spPr>
          <a:xfrm>
            <a:off x="4681728" y="996696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Stakeholder Trust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81728" y="1261872"/>
            <a:ext cx="422452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NOT a black box. Every prediction has a reason. Customers and managers can verify the logic makes business sense.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553712" y="1773936"/>
            <a:ext cx="4407408" cy="7589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53712" y="1773936"/>
            <a:ext cx="64008" cy="758952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7" name="Text 14"/>
          <p:cNvSpPr/>
          <p:nvPr/>
        </p:nvSpPr>
        <p:spPr>
          <a:xfrm>
            <a:off x="4681728" y="1837944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Model Logic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81728" y="2103120"/>
            <a:ext cx="422452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confirms engine power, luxury flag &amp; weight drive price — matching domain expertise. No spurious correlations.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4553712" y="2615184"/>
            <a:ext cx="4407408" cy="7589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53712" y="2615184"/>
            <a:ext cx="64008" cy="75895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1" name="Text 18"/>
          <p:cNvSpPr/>
          <p:nvPr/>
        </p:nvSpPr>
        <p:spPr>
          <a:xfrm>
            <a:off x="4681728" y="2679192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681728" y="2944368"/>
            <a:ext cx="422452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businesses must explain automated decisions. SHAP + LIME provide auditable, mathematical justifications.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4553712" y="3456432"/>
            <a:ext cx="4407408" cy="75895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53712" y="3456432"/>
            <a:ext cx="64008" cy="7589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2"/>
          <p:cNvSpPr/>
          <p:nvPr/>
        </p:nvSpPr>
        <p:spPr>
          <a:xfrm>
            <a:off x="4681728" y="3520440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Insights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681728" y="3785616"/>
            <a:ext cx="4224528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 guide inventory, pricing &amp; marketing decisions: stock performance cars, highlight luxury flags for premium pricing.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164592" y="3977640"/>
            <a:ext cx="8796528" cy="987552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8" name="Shape 25"/>
          <p:cNvSpPr/>
          <p:nvPr/>
        </p:nvSpPr>
        <p:spPr>
          <a:xfrm>
            <a:off x="164592" y="3977640"/>
            <a:ext cx="8796528" cy="2743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Text 26"/>
          <p:cNvSpPr/>
          <p:nvPr/>
        </p:nvSpPr>
        <p:spPr>
          <a:xfrm>
            <a:off x="256032" y="3977640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Teacher Requirement Summary — Explainability Checklist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56032" y="4315968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SHAP global: top 4 features identified &amp; interpreted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56032" y="4517136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SHAP local: waterfall for Sample 1 (mid-range) + High-price car explained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56032" y="4718304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LIME local: Sample 1 (luxury) + Sample 3 (economy) both interpreted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28032" y="4315968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Global vs Local distinction clearly explained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28032" y="4517136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Direction of impact (+ / −) stated for each feature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Key Insights &amp; Business Recommendations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592" y="621792"/>
            <a:ext cx="5166360" cy="310896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559552" y="658368"/>
          <a:ext cx="3776472" cy="1719072"/>
        </p:xfrm>
        <a:graphic>
          <a:graphicData uri="http://schemas.openxmlformats.org/drawingml/2006/table">
            <a:tbl>
              <a:tblPr/>
              <a:tblGrid>
                <a:gridCol w="1417320"/>
                <a:gridCol w="822960"/>
                <a:gridCol w="731520"/>
                <a:gridCol w="804672"/>
              </a:tblGrid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$6,976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Poor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$2,606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$1,851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Excellent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Extra Trees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$1,668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0.9647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Best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559552" y="2487168"/>
            <a:ext cx="34015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PRICE DRIVERS (from SHAP):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559552" y="2798064"/>
            <a:ext cx="502920" cy="3200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4"/>
          <p:cNvSpPr/>
          <p:nvPr/>
        </p:nvSpPr>
        <p:spPr>
          <a:xfrm>
            <a:off x="5559552" y="2798064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126480" y="28254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Performance (engine_power_interaction)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559552" y="3227832"/>
            <a:ext cx="502920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7"/>
          <p:cNvSpPr/>
          <p:nvPr/>
        </p:nvSpPr>
        <p:spPr>
          <a:xfrm>
            <a:off x="5559552" y="322783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26480" y="32552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Segment (is_luxury flag)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559552" y="3657600"/>
            <a:ext cx="502920" cy="3200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4" name="Text 10"/>
          <p:cNvSpPr/>
          <p:nvPr/>
        </p:nvSpPr>
        <p:spPr>
          <a:xfrm>
            <a:off x="5559552" y="365760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26480" y="36850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Trade-offs (avg_mpg, citympg)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559552" y="4087368"/>
            <a:ext cx="502920" cy="32004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7" name="Text 13"/>
          <p:cNvSpPr/>
          <p:nvPr/>
        </p:nvSpPr>
        <p:spPr>
          <a:xfrm>
            <a:off x="5559552" y="408736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126480" y="4114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Characteristics (curbweight, size)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64592" y="3858768"/>
            <a:ext cx="8796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RECOMMENDATIONS: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64592" y="4169664"/>
            <a:ext cx="2029968" cy="749808"/>
          </a:xfrm>
          <a:prstGeom prst="rect">
            <a:avLst/>
          </a:prstGeom>
          <a:solidFill>
            <a:srgbClr val="0D9488">
              <a:alpha val="20000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164592" y="4169664"/>
            <a:ext cx="2029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237744" y="4462272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Extra Trees for automated pricing (±$1,668, &lt;1ms/car)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2414016" y="4169664"/>
            <a:ext cx="2029968" cy="749808"/>
          </a:xfrm>
          <a:prstGeom prst="rect">
            <a:avLst/>
          </a:prstGeom>
          <a:solidFill>
            <a:srgbClr val="0D9488">
              <a:alpha val="20000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2414016" y="4169664"/>
            <a:ext cx="2029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2487168" y="4462272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mid-tier inventory — predictable $10K+ luxury markup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4663440" y="4169664"/>
            <a:ext cx="2029968" cy="749808"/>
          </a:xfrm>
          <a:prstGeom prst="rect">
            <a:avLst/>
          </a:prstGeom>
          <a:solidFill>
            <a:srgbClr val="0D9488">
              <a:alpha val="20000"/>
            </a:srgbClr>
          </a:solidFill>
        </p:spPr>
      </p:sp>
      <p:sp>
        <p:nvSpPr>
          <p:cNvPr id="27" name="Text 23"/>
          <p:cNvSpPr/>
          <p:nvPr/>
        </p:nvSpPr>
        <p:spPr>
          <a:xfrm>
            <a:off x="4663440" y="4169664"/>
            <a:ext cx="2029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736592" y="4462272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LIME/SHAP to explain pricing to customers — transparency builds trust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6912864" y="4169664"/>
            <a:ext cx="2029968" cy="749808"/>
          </a:xfrm>
          <a:prstGeom prst="rect">
            <a:avLst/>
          </a:prstGeom>
          <a:solidFill>
            <a:srgbClr val="0D9488">
              <a:alpha val="20000"/>
            </a:srgbClr>
          </a:solidFill>
        </p:spPr>
      </p:sp>
      <p:sp>
        <p:nvSpPr>
          <p:cNvPr id="30" name="Text 26"/>
          <p:cNvSpPr/>
          <p:nvPr/>
        </p:nvSpPr>
        <p:spPr>
          <a:xfrm>
            <a:off x="6912864" y="4169664"/>
            <a:ext cx="2029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986016" y="4462272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quarterly; monitor RMSE monthly (retrain if &gt;15% degradation)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0D9488">
              <a:alpha val="25000"/>
            </a:srgbClr>
          </a:solidFill>
        </p:spPr>
      </p:sp>
      <p:sp>
        <p:nvSpPr>
          <p:cNvPr id="33" name="Text 29"/>
          <p:cNvSpPr/>
          <p:nvPr/>
        </p:nvSpPr>
        <p:spPr>
          <a:xfrm>
            <a:off x="164592" y="4855464"/>
            <a:ext cx="8796528" cy="2880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Journey: 38% → 91.4% → 95.7% → 96.5%   |   21 Models   |   $968 Avg Error   |   Fully Explainable with SHAP &amp; LIME   |   🚀 Production Ready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233"/>
          </a:solidFill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Technical Details, Methodology &amp; Q&amp;A Preparation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182880" y="777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72237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rows × 26 cols. Databricks catalog.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raw data.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6616" y="1152144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2880" y="141732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18288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36245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16002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Text→numeric (doors, cylinders).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detection. Output: 205×28.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" y="1792224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82880" y="205740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18288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200253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2402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visualisations. Top corr: enginesize,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curbweight, horsepower. Right-skewed price.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6616" y="2432304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82880" y="269748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0" name="Text 18"/>
          <p:cNvSpPr/>
          <p:nvPr/>
        </p:nvSpPr>
        <p:spPr>
          <a:xfrm>
            <a:off x="182880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64261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2880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derived + 3 interaction features.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one-hot encoding. 4 dataset versions.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6616" y="3072384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82880" y="333756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5" name="Text 23"/>
          <p:cNvSpPr/>
          <p:nvPr/>
        </p:nvSpPr>
        <p:spPr>
          <a:xfrm>
            <a:off x="1828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328269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204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(164 train / 41 test).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 42. No data leakage.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6616" y="3712464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82880" y="397764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1828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392277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LR, Decision Tree, Random Forest.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AutoML: 18 models (PyCaret). Best: Extra Trees.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6616" y="4352544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2880" y="461772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1828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456285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8006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+ local (waterfall).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individual breakdowns. Features validated.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69080" y="640080"/>
            <a:ext cx="4901184" cy="1417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069080" y="640080"/>
            <a:ext cx="4901184" cy="31089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0" name="Text 38"/>
          <p:cNvSpPr/>
          <p:nvPr/>
        </p:nvSpPr>
        <p:spPr>
          <a:xfrm>
            <a:off x="4151376" y="640080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Technical Stack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51376" y="978408"/>
            <a:ext cx="473659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(AWS Serverless)  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PyCaret, SHAP, LIME, pandas, matplotlib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cars  ·  26 original  →  39 final features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69080" y="2148840"/>
            <a:ext cx="4901184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069080" y="2148840"/>
            <a:ext cx="4901184" cy="31089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4" name="Text 42"/>
          <p:cNvSpPr/>
          <p:nvPr/>
        </p:nvSpPr>
        <p:spPr>
          <a:xfrm>
            <a:off x="4151376" y="2148840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Extra Trees Regressor — Winner Details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51376" y="2496312"/>
            <a:ext cx="4736592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 trees   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  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 seconds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speed: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&lt;1ms per car   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5-fold (PyCaret internal)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69080" y="3611880"/>
            <a:ext cx="4901184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69080" y="3611880"/>
            <a:ext cx="4901184" cy="31089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8" name="Text 46"/>
          <p:cNvSpPr/>
          <p:nvPr/>
        </p:nvSpPr>
        <p:spPr>
          <a:xfrm>
            <a:off x="4151376" y="3611880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Teacher Q&amp;A Preparation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51376" y="396849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R² mean?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3968496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% of price variance explained by the model's features. Higher = better.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151376" y="41879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RMSE good or bad?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92240" y="4187952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Depends on price range. Our $1,668 vs avg car $13k = ~12% error — very good.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151376" y="440740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Extra Trees over RF?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92240" y="4407408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Extra randomisation → less overfitting. +10% accuracy on test set.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51376" y="462686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SHAP vs LIME difference?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92240" y="4626864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SHAP = global+local, exact math. LIME = local only, easier to explain to clients.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151376" y="484632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often retrain?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92240" y="4846320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Quarterly. If RMSE degrades &gt;15%, retrain immediately.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9166</Words>
  <Application>WPS Presentation</Application>
  <PresentationFormat>On-screen Show (16:9)</PresentationFormat>
  <Paragraphs>585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Price Prediction - ML Pipeline</dc:title>
  <dc:creator>PptxGenJS</dc:creator>
  <dc:subject>PptxGenJS Presentation</dc:subject>
  <cp:lastModifiedBy>shakira</cp:lastModifiedBy>
  <cp:revision>2</cp:revision>
  <dcterms:created xsi:type="dcterms:W3CDTF">2026-04-14T06:17:35Z</dcterms:created>
  <dcterms:modified xsi:type="dcterms:W3CDTF">2026-04-14T06:17:35Z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D575C9F40946DE1FFFDBDD690C5460E2_42</vt:lpwstr>
  </property>
  <property fmtid="{D5CDD505-2E9C-101B-9397-08002B2CF9AE}" pid="3" name="KSOProductBuildVer">
    <vt:lpwstr>1033-12.1.23155.23155</vt:lpwstr>
  </property>
</Properties>
</file>